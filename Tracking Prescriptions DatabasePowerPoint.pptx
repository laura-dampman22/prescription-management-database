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Barlow ExtraLight"/>
      <p:regular r:id="rId18"/>
      <p:bold r:id="rId19"/>
      <p:italic r:id="rId20"/>
      <p:boldItalic r:id="rId21"/>
    </p:embeddedFont>
    <p:embeddedFont>
      <p:font typeface="Hepta Slab Medium"/>
      <p:regular r:id="rId22"/>
      <p:bold r:id="rId23"/>
    </p:embeddedFont>
    <p:embeddedFont>
      <p:font typeface="Hepta Slab Light"/>
      <p:regular r:id="rId24"/>
      <p:bold r:id="rId25"/>
    </p:embeddedFont>
    <p:embeddedFont>
      <p:font typeface="Hepta Slab"/>
      <p:regular r:id="rId26"/>
      <p:bold r:id="rId27"/>
    </p:embeddedFont>
    <p:embeddedFont>
      <p:font typeface="Barlow Medium"/>
      <p:regular r:id="rId28"/>
      <p:bold r:id="rId29"/>
      <p:italic r:id="rId30"/>
      <p:boldItalic r:id="rId31"/>
    </p:embeddedFont>
    <p:embeddedFont>
      <p:font typeface="Barlow Light"/>
      <p:regular r:id="rId32"/>
      <p:bold r:id="rId33"/>
      <p:italic r:id="rId34"/>
      <p:boldItalic r:id="rId35"/>
    </p:embeddedFont>
    <p:embeddedFont>
      <p:font typeface="Barlow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ExtraLight-italic.fntdata"/><Relationship Id="rId22" Type="http://schemas.openxmlformats.org/officeDocument/2006/relationships/font" Target="fonts/HeptaSlabMedium-regular.fntdata"/><Relationship Id="rId21" Type="http://schemas.openxmlformats.org/officeDocument/2006/relationships/font" Target="fonts/BarlowExtraLight-boldItalic.fntdata"/><Relationship Id="rId24" Type="http://schemas.openxmlformats.org/officeDocument/2006/relationships/font" Target="fonts/HeptaSlabLight-regular.fntdata"/><Relationship Id="rId23" Type="http://schemas.openxmlformats.org/officeDocument/2006/relationships/font" Target="fonts/HeptaSlab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ptaSlab-regular.fntdata"/><Relationship Id="rId25" Type="http://schemas.openxmlformats.org/officeDocument/2006/relationships/font" Target="fonts/HeptaSlabLight-bold.fntdata"/><Relationship Id="rId28" Type="http://schemas.openxmlformats.org/officeDocument/2006/relationships/font" Target="fonts/BarlowMedium-regular.fntdata"/><Relationship Id="rId27" Type="http://schemas.openxmlformats.org/officeDocument/2006/relationships/font" Target="fonts/HeptaSlab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Medium-boldItalic.fntdata"/><Relationship Id="rId30" Type="http://schemas.openxmlformats.org/officeDocument/2006/relationships/font" Target="fonts/BarlowMedium-italic.fntdata"/><Relationship Id="rId11" Type="http://schemas.openxmlformats.org/officeDocument/2006/relationships/slide" Target="slides/slide6.xml"/><Relationship Id="rId33" Type="http://schemas.openxmlformats.org/officeDocument/2006/relationships/font" Target="fonts/BarlowLight-bold.fntdata"/><Relationship Id="rId10" Type="http://schemas.openxmlformats.org/officeDocument/2006/relationships/slide" Target="slides/slide5.xml"/><Relationship Id="rId32" Type="http://schemas.openxmlformats.org/officeDocument/2006/relationships/font" Target="fonts/BarlowLight-regular.fntdata"/><Relationship Id="rId13" Type="http://schemas.openxmlformats.org/officeDocument/2006/relationships/slide" Target="slides/slide8.xml"/><Relationship Id="rId35" Type="http://schemas.openxmlformats.org/officeDocument/2006/relationships/font" Target="fonts/Barlow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BarlowLight-italic.fntdata"/><Relationship Id="rId15" Type="http://schemas.openxmlformats.org/officeDocument/2006/relationships/slide" Target="slides/slide10.xml"/><Relationship Id="rId37" Type="http://schemas.openxmlformats.org/officeDocument/2006/relationships/font" Target="fonts/Barlow-bold.fntdata"/><Relationship Id="rId14" Type="http://schemas.openxmlformats.org/officeDocument/2006/relationships/slide" Target="slides/slide9.xml"/><Relationship Id="rId36" Type="http://schemas.openxmlformats.org/officeDocument/2006/relationships/font" Target="fonts/Barlow-regular.fntdata"/><Relationship Id="rId17" Type="http://schemas.openxmlformats.org/officeDocument/2006/relationships/slide" Target="slides/slide12.xml"/><Relationship Id="rId39" Type="http://schemas.openxmlformats.org/officeDocument/2006/relationships/font" Target="fonts/Barlow-boldItalic.fntdata"/><Relationship Id="rId16" Type="http://schemas.openxmlformats.org/officeDocument/2006/relationships/slide" Target="slides/slide11.xml"/><Relationship Id="rId38" Type="http://schemas.openxmlformats.org/officeDocument/2006/relationships/font" Target="fonts/Barlow-italic.fntdata"/><Relationship Id="rId19" Type="http://schemas.openxmlformats.org/officeDocument/2006/relationships/font" Target="fonts/BarlowExtraLight-bold.fntdata"/><Relationship Id="rId18" Type="http://schemas.openxmlformats.org/officeDocument/2006/relationships/font" Target="fonts/BarlowExtra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28db306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28db306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28db306d8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528db306d8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06d813eb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506d813eb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06d813eb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506d813eb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506d813eb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506d813eb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506d813eb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506d813eb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06d813eb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506d813eb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506d813eb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506d813eb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06d813eb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506d813eb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06d813eb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506d813eb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06d813eb4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06d813eb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50aebe166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50aebe166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632850" y="516575"/>
            <a:ext cx="7878300" cy="26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Tracking Prescriptions Database</a:t>
            </a:r>
            <a:endParaRPr/>
          </a:p>
        </p:txBody>
      </p:sp>
      <p:sp>
        <p:nvSpPr>
          <p:cNvPr id="327" name="Google Shape;327;p47"/>
          <p:cNvSpPr txBox="1"/>
          <p:nvPr/>
        </p:nvSpPr>
        <p:spPr>
          <a:xfrm>
            <a:off x="3382800" y="3641825"/>
            <a:ext cx="23784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Laura Dampman</a:t>
            </a:r>
            <a:endParaRPr sz="2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idx="1" type="subTitle"/>
          </p:nvPr>
        </p:nvSpPr>
        <p:spPr>
          <a:xfrm>
            <a:off x="373725" y="194600"/>
            <a:ext cx="29619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</a:rPr>
              <a:t>My Project 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333" name="Google Shape;333;p48"/>
          <p:cNvSpPr txBox="1"/>
          <p:nvPr/>
        </p:nvSpPr>
        <p:spPr>
          <a:xfrm>
            <a:off x="373725" y="1278775"/>
            <a:ext cx="4198200" cy="29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Original idea:</a:t>
            </a:r>
            <a:r>
              <a:rPr lang="en" sz="15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  building a prescription tracking </a:t>
            </a:r>
            <a:r>
              <a:rPr lang="en" sz="15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mobile app.</a:t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Scaled down:</a:t>
            </a:r>
            <a:r>
              <a:rPr lang="en" sz="15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 Chose to design database </a:t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Future Goal: </a:t>
            </a:r>
            <a:r>
              <a:rPr lang="en" sz="15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 to use as foundation for future mobile app</a:t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descr="Sql Database Collection Elements Icons Set Vector (Provided by Getty Images)" id="334" name="Google Shape;33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275" y="571500"/>
            <a:ext cx="3729024" cy="35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"/>
          <p:cNvSpPr txBox="1"/>
          <p:nvPr>
            <p:ph idx="18" type="subTitle"/>
          </p:nvPr>
        </p:nvSpPr>
        <p:spPr>
          <a:xfrm>
            <a:off x="399825" y="911113"/>
            <a:ext cx="7480800" cy="20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First Goal:</a:t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Prescription Tracking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From doctor to pharmacy to user: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Received, In Process, Complete</a:t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9"/>
          <p:cNvSpPr txBox="1"/>
          <p:nvPr>
            <p:ph idx="19" type="body"/>
          </p:nvPr>
        </p:nvSpPr>
        <p:spPr>
          <a:xfrm>
            <a:off x="663975" y="2946625"/>
            <a:ext cx="7480800" cy="17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Second Goal: </a:t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The power of knowledge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As a customer understanding: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Cost - Insurance - </a:t>
            </a: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Available</a:t>
            </a: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 Choices</a:t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9"/>
          <p:cNvSpPr txBox="1"/>
          <p:nvPr/>
        </p:nvSpPr>
        <p:spPr>
          <a:xfrm>
            <a:off x="123700" y="68125"/>
            <a:ext cx="67155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Purpose For My Database</a:t>
            </a:r>
            <a:endParaRPr b="1" sz="27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0"/>
          <p:cNvSpPr txBox="1"/>
          <p:nvPr>
            <p:ph idx="1" type="subTitle"/>
          </p:nvPr>
        </p:nvSpPr>
        <p:spPr>
          <a:xfrm>
            <a:off x="144725" y="150000"/>
            <a:ext cx="46413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Why?</a:t>
            </a:r>
            <a:endParaRPr b="1" sz="23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47" name="Google Shape;347;p50"/>
          <p:cNvSpPr txBox="1"/>
          <p:nvPr>
            <p:ph idx="19" type="body"/>
          </p:nvPr>
        </p:nvSpPr>
        <p:spPr>
          <a:xfrm>
            <a:off x="60575" y="1313250"/>
            <a:ext cx="44109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epta Slab"/>
                <a:ea typeface="Hepta Slab"/>
                <a:cs typeface="Hepta Slab"/>
                <a:sym typeface="Hepta Slab"/>
              </a:rPr>
              <a:t>Issues with US healthcare</a:t>
            </a: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48" name="Google Shape;348;p50"/>
          <p:cNvSpPr txBox="1"/>
          <p:nvPr>
            <p:ph idx="21" type="subTitle"/>
          </p:nvPr>
        </p:nvSpPr>
        <p:spPr>
          <a:xfrm>
            <a:off x="144725" y="2410500"/>
            <a:ext cx="35487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rPr>
              <a:t>P</a:t>
            </a:r>
            <a:r>
              <a:rPr lang="en" sz="1500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rPr>
              <a:t>rescription costs too high </a:t>
            </a:r>
            <a:endParaRPr sz="1500">
              <a:solidFill>
                <a:srgbClr val="000000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9" name="Google Shape;349;p50"/>
          <p:cNvSpPr txBox="1"/>
          <p:nvPr>
            <p:ph idx="22" type="body"/>
          </p:nvPr>
        </p:nvSpPr>
        <p:spPr>
          <a:xfrm>
            <a:off x="144725" y="3438850"/>
            <a:ext cx="42426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epta Slab"/>
                <a:ea typeface="Hepta Slab"/>
                <a:cs typeface="Hepta Slab"/>
                <a:sym typeface="Hepta Slab"/>
              </a:rPr>
              <a:t>Not understanding prescription options</a:t>
            </a:r>
            <a:endParaRPr sz="1500">
              <a:latin typeface="Hepta Slab"/>
              <a:ea typeface="Hepta Slab"/>
              <a:cs typeface="Hepta Slab"/>
              <a:sym typeface="Hepta Slab"/>
            </a:endParaRPr>
          </a:p>
        </p:txBody>
      </p:sp>
      <p:pic>
        <p:nvPicPr>
          <p:cNvPr id="350" name="Google Shape;350;p50" title="Screenshot-2023-01-23-at-9.24.44-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425" y="1143650"/>
            <a:ext cx="5176098" cy="328885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50"/>
          <p:cNvSpPr txBox="1"/>
          <p:nvPr/>
        </p:nvSpPr>
        <p:spPr>
          <a:xfrm>
            <a:off x="3832825" y="4583150"/>
            <a:ext cx="50367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 %  of people putting off medical </a:t>
            </a:r>
            <a:r>
              <a:rPr lang="en"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treatment from 2001-2022</a:t>
            </a:r>
            <a:r>
              <a:rPr lang="en"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 due to  cost</a:t>
            </a:r>
            <a:endParaRPr sz="12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1"/>
          <p:cNvSpPr txBox="1"/>
          <p:nvPr>
            <p:ph type="title"/>
          </p:nvPr>
        </p:nvSpPr>
        <p:spPr>
          <a:xfrm>
            <a:off x="3169950" y="73900"/>
            <a:ext cx="2804100" cy="61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My Database</a:t>
            </a:r>
            <a:endParaRPr b="1" sz="2700"/>
          </a:p>
        </p:txBody>
      </p:sp>
      <p:pic>
        <p:nvPicPr>
          <p:cNvPr id="357" name="Google Shape;357;p51" title="Screenshot 2025-04-27 1536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325" y="754175"/>
            <a:ext cx="8591125" cy="40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type="title"/>
          </p:nvPr>
        </p:nvSpPr>
        <p:spPr>
          <a:xfrm>
            <a:off x="396275" y="2067000"/>
            <a:ext cx="32172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Tables</a:t>
            </a:r>
            <a:endParaRPr b="1"/>
          </a:p>
        </p:txBody>
      </p:sp>
      <p:sp>
        <p:nvSpPr>
          <p:cNvPr id="363" name="Google Shape;363;p52"/>
          <p:cNvSpPr txBox="1"/>
          <p:nvPr>
            <p:ph idx="1" type="subTitle"/>
          </p:nvPr>
        </p:nvSpPr>
        <p:spPr>
          <a:xfrm>
            <a:off x="490225" y="3376150"/>
            <a:ext cx="26235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Holds 14 tables</a:t>
            </a:r>
            <a:endParaRPr/>
          </a:p>
        </p:txBody>
      </p:sp>
      <p:sp>
        <p:nvSpPr>
          <p:cNvPr id="364" name="Google Shape;364;p52"/>
          <p:cNvSpPr txBox="1"/>
          <p:nvPr>
            <p:ph idx="2" type="subTitle"/>
          </p:nvPr>
        </p:nvSpPr>
        <p:spPr>
          <a:xfrm>
            <a:off x="3613475" y="580800"/>
            <a:ext cx="4409700" cy="39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Pharmacy - pharmacy info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Insurance plan - insurance info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Accepted insurance - what pharmacies accept what insurance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Notifications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Users - 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phone numbers 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emails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Chosen pharmacy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Prescription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Medication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3"/>
          <p:cNvSpPr txBox="1"/>
          <p:nvPr>
            <p:ph idx="2" type="body"/>
          </p:nvPr>
        </p:nvSpPr>
        <p:spPr>
          <a:xfrm>
            <a:off x="360875" y="765300"/>
            <a:ext cx="3490500" cy="3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Hepta Slab"/>
                <a:ea typeface="Hepta Slab"/>
                <a:cs typeface="Hepta Slab"/>
                <a:sym typeface="Hepta Slab"/>
              </a:rPr>
              <a:t>Creating t</a:t>
            </a:r>
            <a:r>
              <a:rPr b="1" lang="en" sz="1900">
                <a:latin typeface="Hepta Slab"/>
                <a:ea typeface="Hepta Slab"/>
                <a:cs typeface="Hepta Slab"/>
                <a:sym typeface="Hepta Slab"/>
              </a:rPr>
              <a:t>ables for price checking:</a:t>
            </a:r>
            <a:endParaRPr b="1" sz="19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Hepta Slab"/>
              <a:ea typeface="Hepta Slab"/>
              <a:cs typeface="Hepta Slab"/>
              <a:sym typeface="Hepta Slab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Hepta Slab"/>
              <a:buAutoNum type="arabicPeriod"/>
            </a:pPr>
            <a:r>
              <a:rPr lang="en" sz="1700">
                <a:latin typeface="Hepta Slab"/>
                <a:ea typeface="Hepta Slab"/>
                <a:cs typeface="Hepta Slab"/>
                <a:sym typeface="Hepta Slab"/>
              </a:rPr>
              <a:t>Covered prescriptions with copay</a:t>
            </a:r>
            <a:endParaRPr sz="1700">
              <a:latin typeface="Hepta Slab"/>
              <a:ea typeface="Hepta Slab"/>
              <a:cs typeface="Hepta Slab"/>
              <a:sym typeface="Hepta Slab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Hepta Slab"/>
              <a:buAutoNum type="arabicPeriod"/>
            </a:pPr>
            <a:r>
              <a:rPr lang="en" sz="1700">
                <a:latin typeface="Hepta Slab"/>
                <a:ea typeface="Hepta Slab"/>
                <a:cs typeface="Hepta Slab"/>
                <a:sym typeface="Hepta Slab"/>
              </a:rPr>
              <a:t>Covered alternatives with copay</a:t>
            </a:r>
            <a:endParaRPr sz="17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Hepta Slab"/>
              <a:ea typeface="Hepta Slab"/>
              <a:cs typeface="Hepta Slab"/>
              <a:sym typeface="Hepta Slab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Hepta Slab"/>
              <a:buAutoNum type="arabicPeriod"/>
            </a:pPr>
            <a:r>
              <a:rPr lang="en" sz="1700">
                <a:latin typeface="Hepta Slab"/>
                <a:ea typeface="Hepta Slab"/>
                <a:cs typeface="Hepta Slab"/>
                <a:sym typeface="Hepta Slab"/>
              </a:rPr>
              <a:t> Non covered prescriptions with price</a:t>
            </a:r>
            <a:endParaRPr sz="1700">
              <a:latin typeface="Hepta Slab"/>
              <a:ea typeface="Hepta Slab"/>
              <a:cs typeface="Hepta Slab"/>
              <a:sym typeface="Hepta Slab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Hepta Slab"/>
              <a:buAutoNum type="arabicPeriod"/>
            </a:pPr>
            <a:r>
              <a:rPr lang="en" sz="1700">
                <a:latin typeface="Hepta Slab"/>
                <a:ea typeface="Hepta Slab"/>
                <a:cs typeface="Hepta Slab"/>
                <a:sym typeface="Hepta Slab"/>
              </a:rPr>
              <a:t>Non covered alternatives with price</a:t>
            </a:r>
            <a:endParaRPr sz="17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53" title="Screenshot 2025-04-27 1557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2125" y="974350"/>
            <a:ext cx="4216001" cy="188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3" title="Screenshot 2025-04-27 1557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2125" y="2949850"/>
            <a:ext cx="4216000" cy="20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3"/>
          <p:cNvSpPr txBox="1"/>
          <p:nvPr/>
        </p:nvSpPr>
        <p:spPr>
          <a:xfrm>
            <a:off x="4291325" y="4654950"/>
            <a:ext cx="43776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Alternative medications tables: Relational Schema</a:t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/>
          <p:nvPr>
            <p:ph type="title"/>
          </p:nvPr>
        </p:nvSpPr>
        <p:spPr>
          <a:xfrm>
            <a:off x="258100" y="1593150"/>
            <a:ext cx="2165400" cy="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Queries</a:t>
            </a:r>
            <a:endParaRPr sz="3600"/>
          </a:p>
        </p:txBody>
      </p:sp>
      <p:pic>
        <p:nvPicPr>
          <p:cNvPr id="378" name="Google Shape;378;p54" title="Screenshot 2025-04-27 1334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887" y="271700"/>
            <a:ext cx="6201489" cy="468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55" title="Screenshot 2025-04-27 1604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700" y="135500"/>
            <a:ext cx="6794601" cy="458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5"/>
          <p:cNvSpPr txBox="1"/>
          <p:nvPr/>
        </p:nvSpPr>
        <p:spPr>
          <a:xfrm>
            <a:off x="3887475" y="4722425"/>
            <a:ext cx="20451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Query </a:t>
            </a: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with</a:t>
            </a: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 results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6"/>
          <p:cNvSpPr txBox="1"/>
          <p:nvPr>
            <p:ph idx="2" type="subTitle"/>
          </p:nvPr>
        </p:nvSpPr>
        <p:spPr>
          <a:xfrm>
            <a:off x="-428400" y="245375"/>
            <a:ext cx="50004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 UI and Connecting  </a:t>
            </a:r>
            <a:endParaRPr b="1" sz="27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90" name="Google Shape;390;p56"/>
          <p:cNvSpPr txBox="1"/>
          <p:nvPr/>
        </p:nvSpPr>
        <p:spPr>
          <a:xfrm>
            <a:off x="330750" y="1544561"/>
            <a:ext cx="3399300" cy="18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User Interface:</a:t>
            </a:r>
            <a:endParaRPr b="1" sz="13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Hepta Slab Light"/>
              <a:buChar char="-"/>
            </a:pPr>
            <a:r>
              <a:rPr lang="en" sz="1300">
                <a:latin typeface="Hepta Slab Light"/>
                <a:ea typeface="Hepta Slab Light"/>
                <a:cs typeface="Hepta Slab Light"/>
                <a:sym typeface="Hepta Slab Light"/>
              </a:rPr>
              <a:t>User information: first name, last name, DOB and insurance </a:t>
            </a:r>
            <a:r>
              <a:rPr lang="en" sz="1300">
                <a:latin typeface="Hepta Slab Light"/>
                <a:ea typeface="Hepta Slab Light"/>
                <a:cs typeface="Hepta Slab Light"/>
                <a:sym typeface="Hepta Slab Light"/>
              </a:rPr>
              <a:t>member</a:t>
            </a:r>
            <a:r>
              <a:rPr lang="en" sz="1300">
                <a:latin typeface="Hepta Slab Light"/>
                <a:ea typeface="Hepta Slab Light"/>
                <a:cs typeface="Hepta Slab Light"/>
                <a:sym typeface="Hepta Slab Light"/>
              </a:rPr>
              <a:t> ID</a:t>
            </a:r>
            <a:endParaRPr sz="13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Hepta Slab Light"/>
              <a:buChar char="-"/>
            </a:pPr>
            <a:r>
              <a:rPr lang="en" sz="1300">
                <a:latin typeface="Hepta Slab Light"/>
                <a:ea typeface="Hepta Slab Light"/>
                <a:cs typeface="Hepta Slab Light"/>
                <a:sym typeface="Hepta Slab Light"/>
              </a:rPr>
              <a:t>Choosing a pharmacy from drop down menu</a:t>
            </a:r>
            <a:endParaRPr sz="1300">
              <a:latin typeface="Hepta Slab Light"/>
              <a:ea typeface="Hepta Slab Light"/>
              <a:cs typeface="Hepta Slab Light"/>
              <a:sym typeface="Hepta Slab Light"/>
            </a:endParaRPr>
          </a:p>
        </p:txBody>
      </p:sp>
      <p:pic>
        <p:nvPicPr>
          <p:cNvPr id="391" name="Google Shape;391;p56" title="Screenshot 2025-04-27 2058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625" y="1064850"/>
            <a:ext cx="3844374" cy="346967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6"/>
          <p:cNvSpPr txBox="1"/>
          <p:nvPr/>
        </p:nvSpPr>
        <p:spPr>
          <a:xfrm>
            <a:off x="5093563" y="668800"/>
            <a:ext cx="2170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My user input code</a:t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93" name="Google Shape;393;p56"/>
          <p:cNvSpPr txBox="1"/>
          <p:nvPr/>
        </p:nvSpPr>
        <p:spPr>
          <a:xfrm>
            <a:off x="289350" y="3923725"/>
            <a:ext cx="3482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User interface should be user friendly and efficient </a:t>
            </a:r>
            <a:endParaRPr b="1" sz="13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7"/>
          <p:cNvSpPr txBox="1"/>
          <p:nvPr>
            <p:ph idx="2" type="subTitle"/>
          </p:nvPr>
        </p:nvSpPr>
        <p:spPr>
          <a:xfrm>
            <a:off x="1812000" y="224525"/>
            <a:ext cx="5190900" cy="6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Connecting UI and Database</a:t>
            </a:r>
            <a:endParaRPr b="1" sz="24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99" name="Google Shape;399;p57"/>
          <p:cNvSpPr txBox="1"/>
          <p:nvPr>
            <p:ph idx="3" type="body"/>
          </p:nvPr>
        </p:nvSpPr>
        <p:spPr>
          <a:xfrm>
            <a:off x="32675" y="2931325"/>
            <a:ext cx="4246800" cy="16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latin typeface="Hepta Slab"/>
                <a:ea typeface="Hepta Slab"/>
                <a:cs typeface="Hepta Slab"/>
                <a:sym typeface="Hepta Slab"/>
              </a:rPr>
              <a:t>Flask:</a:t>
            </a:r>
            <a:endParaRPr b="1" sz="12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Hepta Slab"/>
              <a:ea typeface="Hepta Slab"/>
              <a:cs typeface="Hepta Slab"/>
              <a:sym typeface="Hepta Slab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Hepta Slab"/>
              <a:buChar char="-"/>
            </a:pPr>
            <a:r>
              <a:rPr lang="en" sz="1200">
                <a:latin typeface="Hepta Slab"/>
                <a:ea typeface="Hepta Slab"/>
                <a:cs typeface="Hepta Slab"/>
                <a:sym typeface="Hepta Slab"/>
              </a:rPr>
              <a:t>Helps handles user requests from front end </a:t>
            </a:r>
            <a:endParaRPr sz="1200">
              <a:latin typeface="Hepta Slab"/>
              <a:ea typeface="Hepta Slab"/>
              <a:cs typeface="Hepta Slab"/>
              <a:sym typeface="Hepta Slab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Hepta Slab"/>
              <a:buChar char="-"/>
            </a:pPr>
            <a:r>
              <a:rPr lang="en" sz="1200">
                <a:latin typeface="Hepta Slab"/>
                <a:ea typeface="Hepta Slab"/>
                <a:cs typeface="Hepta Slab"/>
                <a:sym typeface="Hepta Slab"/>
              </a:rPr>
              <a:t>Can define routes for better control</a:t>
            </a:r>
            <a:endParaRPr sz="1200">
              <a:latin typeface="Hepta Slab"/>
              <a:ea typeface="Hepta Slab"/>
              <a:cs typeface="Hepta Slab"/>
              <a:sym typeface="Hepta Slab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Hepta Slab"/>
              <a:buChar char="-"/>
            </a:pPr>
            <a:r>
              <a:rPr lang="en" sz="1200">
                <a:latin typeface="Hepta Slab"/>
                <a:ea typeface="Hepta Slab"/>
                <a:cs typeface="Hepta Slab"/>
                <a:sym typeface="Hepta Slab"/>
              </a:rPr>
              <a:t>Works with packages like SQLAlchemy and psycopg2</a:t>
            </a:r>
            <a:endParaRPr sz="12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7"/>
          <p:cNvSpPr txBox="1"/>
          <p:nvPr/>
        </p:nvSpPr>
        <p:spPr>
          <a:xfrm>
            <a:off x="32675" y="1572075"/>
            <a:ext cx="39423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Chose to use virtual environment:</a:t>
            </a:r>
            <a:endParaRPr b="1" sz="12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pta Slab"/>
              <a:buChar char="-"/>
            </a:pPr>
            <a:r>
              <a:rPr lang="en" sz="12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Keeps projects contained </a:t>
            </a:r>
            <a:endParaRPr sz="12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pta Slab"/>
              <a:buChar char="-"/>
            </a:pPr>
            <a:r>
              <a:rPr lang="en" sz="12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Eliminates conflicts between packages</a:t>
            </a:r>
            <a:endParaRPr sz="12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2791350" y="775621"/>
            <a:ext cx="32322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Challenging area for me</a:t>
            </a:r>
            <a:endParaRPr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Hepta Slab Light"/>
              <a:ea typeface="Hepta Slab Light"/>
              <a:cs typeface="Hepta Slab Light"/>
              <a:sym typeface="Hepta Slab Light"/>
            </a:endParaRPr>
          </a:p>
        </p:txBody>
      </p:sp>
      <p:pic>
        <p:nvPicPr>
          <p:cNvPr id="402" name="Google Shape;402;p57" title="Screenshot 2025-04-28 0757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475" y="1572075"/>
            <a:ext cx="4726226" cy="299815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7"/>
          <p:cNvSpPr txBox="1"/>
          <p:nvPr/>
        </p:nvSpPr>
        <p:spPr>
          <a:xfrm>
            <a:off x="4986163" y="4687200"/>
            <a:ext cx="37185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 Error message and psycopg2 installed </a:t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8"/>
          <p:cNvSpPr txBox="1"/>
          <p:nvPr>
            <p:ph idx="2" type="subTitle"/>
          </p:nvPr>
        </p:nvSpPr>
        <p:spPr>
          <a:xfrm>
            <a:off x="253525" y="236375"/>
            <a:ext cx="64599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What I Gained From This Project </a:t>
            </a:r>
            <a:endParaRPr b="1" sz="26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410" name="Google Shape;410;p58"/>
          <p:cNvSpPr txBox="1"/>
          <p:nvPr>
            <p:ph idx="3" type="body"/>
          </p:nvPr>
        </p:nvSpPr>
        <p:spPr>
          <a:xfrm>
            <a:off x="253525" y="1480800"/>
            <a:ext cx="3684600" cy="30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Given me valuable skills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Boosted self my </a:t>
            </a:r>
            <a:r>
              <a:rPr lang="en" sz="1600"/>
              <a:t>confidence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Meeting future employers expectations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Taking my ideas and bringing them to life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Changing the lives of others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Excited to see what my future holds</a:t>
            </a:r>
            <a:endParaRPr sz="1600"/>
          </a:p>
        </p:txBody>
      </p:sp>
      <p:pic>
        <p:nvPicPr>
          <p:cNvPr descr="File:Job interview 0001.jpg - Wikipedia" id="411" name="Google Shape;41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224" y="1196550"/>
            <a:ext cx="2862238" cy="19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oman Filling Out Job Application | Woman holding a pen and … | Flickr" id="412" name="Google Shape;41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925" y="2711075"/>
            <a:ext cx="2862249" cy="197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